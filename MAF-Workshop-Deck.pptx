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Housekeeping: Wi-Fi, restrooms, breaks schedule. Introduce yourself and co-presenter.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expectations: by noon you'll have built 4 agents, by 5pm you'll have added agentic AI to a real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shift is autonomy — agents decide WHAT to do, not just HOW to respond. Each generation builds on the previous.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all AI apps need agents. If a simple API call suffices, use that instead. Agents add value when tasks are complex, multi-step, and require judgment.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Relate to the partner's industry if possible. Ask the audience which use case resonates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MAF is for developers who need maximum flexibility and control. Copilot Studio is for citizen developers. M365 SDK for Teams-specific scenarios.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teams, unified vision. Semantic Kernel and AutoGen are predecessors. MAF is the direct successor combining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diagram will be our compass throughout the day. Keep it visible or printable. Each module goes deep on one or two of these boxes.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vendor lock-in. These protocols work across providers. MCP is becoming the industry standard for tool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Mentimeter, Slido, or show of hands. This helps you gauge the room and adjust depth accordingly.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simplicity — you can build an agent in ~10 lines of code. The abstraction hides the complexity of LLM interaction.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Live-code this! Show it running. Point out: instructions shape behavior, provider is configured once, RunAsync vs RunStreamingAsync.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agent code works with any provider. Demo swapping Azure OpenAI for Ollama if time permits. This is a key differentiator.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Streaming is almost always preferred for user-facing apps. The perceived latency is dramatically lower.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minutes. Circulate and help with Azure credential issues. Have az login ready as a troubleshooting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'aha moment' module. When participants see the LLM autonomously decide to call their function, it clicks.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Stress: descriptions are CRITICAL. The LLM reads them to decide when and how to call the tool. Bad descriptions = bad tool 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magic: the LLM autonomously decided to call the function. You never wrote 'if user asks about weather, call GetWeather'.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Function tools are 80% of what you'll use day-to-day. MCP is the future — standardized tool integration across the industry.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simplest multi-agent pattern. The main agent doesn't know HOW to get weather — it delegates to a specialist.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MCP is becoming the industry standard. Brief mention today — not a lab topic, but important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minutes. Walk the room during the 'bad description' exercise — it's a great teaching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contrast live. This is a visceral demo that makes the concept stick.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Live-demo: 'My name is Alice' → 'What's my name?' with and without session. Session serialization enables persistence across restarts.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 providers are the enterprise way to manage agent memory. For the workshop, InMemory is fine; mention CosmosDB for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types: Agent Run, Function Calling, IChatClient. They form a chain — order matters (security before logging!).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teams love middleware — it's how you make agents production-safe. Emphasize that middleware is the enterprise plumbing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minutes. The security middleware exercise is great for discussion — how would you protect a production agent?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can draw a flowchart, use a workflow. If the task is open-ended, use an agent. Most real apps use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Type-safe messages flow along edges. The framework validates message types at build time, catching errors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real workflows combine these patterns. Show diagram of a real-world example if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Critical for production workflows that take hours/days. Think expense approvals, contract reviews, multi-stage processing.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 overview — full hosting is beyond today's scope. Show the 5-line ASP.NET Core hosting code if time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short on time, do the function workflow as guided walkthrough. The agent workflow is the impressive payoff.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CUSTOMIZE THIS SLIDE. Walk through the partner app live. Show the user journeys. Identify where agents add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Teams choose 1-2 scenarios. All are valid. Customize these scenarios to match the partner's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 teams now, pick scenarios, set up environments during the break. Emphasize: a working demo of 1 feature beats a broken demo of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 per team. Keep it moving. Celebrate creativity and effort, not just polish.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Reinforce the 'so what' — these aren't toys, they're production-grade tools. MAF is the path forward for enterprise agentic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Send follow-up email with all links + today's code within 24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honest feedback. Thank the partner. Remind about the follow-up email with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Microsoft Agent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BDEFB"/>
                </a:solidFill>
                <a:latin typeface="Segoe UI"/>
              </a:defRPr>
            </a:pPr>
            <a:r>
              <a:t>From Concepts to Code — Full-Day Hands-On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BBDD"/>
                </a:solidFill>
                <a:latin typeface="Segoe UI"/>
              </a:defRPr>
            </a:pPr>
            <a:r>
              <a:t>[Presenter Names]</a:t>
            </a:r>
            <a:br/>
            <a:r>
              <a:t>[Partner Name]  · 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Today's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333333"/>
                </a:solidFill>
                <a:latin typeface="Segoe UI"/>
              </a:rPr>
              <a:t>09:00 – 09:30   Welcome &amp; Intro: Why Agentic AI?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333333"/>
                </a:solidFill>
                <a:latin typeface="Segoe UI"/>
              </a:rPr>
              <a:t>09:30 – 10:15   Module 1 — Agent Fundamentals  [Theory + Lab]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333333"/>
                </a:solidFill>
                <a:latin typeface="Segoe UI"/>
              </a:rPr>
              <a:t>10:15 – 10:30   ☕ Break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333333"/>
                </a:solidFill>
                <a:latin typeface="Segoe UI"/>
              </a:rPr>
              <a:t>10:30 – 11:15   Module 2 — Tools &amp; Function Calling  [Theory + Lab]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333333"/>
                </a:solidFill>
                <a:latin typeface="Segoe UI"/>
              </a:rPr>
              <a:t>11:15 – 12:00   Module 3 — Conversations, Memory &amp; Middleware  [Theory + Lab]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333333"/>
                </a:solidFill>
                <a:latin typeface="Segoe UI"/>
              </a:rPr>
              <a:t>12:00 – 12:45   🍽️ Lunch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333333"/>
                </a:solidFill>
                <a:latin typeface="Segoe UI"/>
              </a:rPr>
              <a:t>12:45 – 13:30   Module 4 — Workflows &amp; Multi-Agent Patterns  [Theory + Lab]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333333"/>
                </a:solidFill>
                <a:latin typeface="Segoe UI"/>
              </a:rPr>
              <a:t>13:30 – 13:45   Hackathon Briefing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333333"/>
                </a:solidFill>
                <a:latin typeface="Segoe UI"/>
              </a:rPr>
              <a:t>14:00 – 16:30   🏗️ Hackathon: Add Agentic AI to the Partner App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333333"/>
                </a:solidFill>
                <a:latin typeface="Segoe UI"/>
              </a:rPr>
              <a:t>16:30 – 17:00   Show &amp; Tell + Wrap-up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From Chatbots to Autonomous Agents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3291840" cy="384048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Rule-based</a:t>
            </a:r>
            <a:br/>
            <a:r>
              <a:t>Scripted responses</a:t>
            </a:r>
            <a:br/>
            <a:r>
              <a:t>No reasoning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828800"/>
            <a:ext cx="3291840" cy="3840480"/>
          </a:xfrm>
          <a:prstGeom prst="rect">
            <a:avLst/>
          </a:prstGeom>
          <a:solidFill>
            <a:srgbClr val="6B6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21031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92608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LLM-powered</a:t>
            </a:r>
            <a:br/>
            <a:r>
              <a:t>Human-directed</a:t>
            </a:r>
            <a:br/>
            <a:r>
              <a:t>Suggests actions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1828800"/>
            <a:ext cx="3291840" cy="38404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21031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92608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Autonomous</a:t>
            </a:r>
            <a:br/>
            <a:r>
              <a:t>Goal-driven</a:t>
            </a:r>
            <a:br/>
            <a:r>
              <a:t>Uses tools</a:t>
            </a:r>
            <a:br/>
            <a:r>
              <a:t>Maintains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200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3333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200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33333"/>
                </a:solidFill>
                <a:latin typeface="Segoe UI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Four Properties of an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333333"/>
                </a:solidFill>
                <a:latin typeface="Segoe UI"/>
              </a:defRPr>
            </a:pPr>
            <a:r>
              <a:t>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2B5C"/>
                </a:solidFill>
                <a:latin typeface="Segoe UI"/>
              </a:defRPr>
            </a:pPr>
            <a:r>
              <a:t>Goal-driven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965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06060"/>
                </a:solidFill>
                <a:latin typeface="Segoe UI"/>
              </a:defRPr>
            </a:pPr>
            <a:r>
              <a:t>Works toward a specific objective autonomously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333333"/>
                </a:solidFill>
                <a:latin typeface="Segoe UI"/>
              </a:defRPr>
            </a:pPr>
            <a:r>
              <a:t>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788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2B5C"/>
                </a:solidFill>
                <a:latin typeface="Segoe UI"/>
              </a:defRPr>
            </a:pPr>
            <a:r>
              <a:t>Tool-using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06060"/>
                </a:solidFill>
                <a:latin typeface="Segoe UI"/>
              </a:defRPr>
            </a:pPr>
            <a:r>
              <a:t>Calls functions, APIs, databases, and external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333333"/>
                </a:solidFill>
                <a:latin typeface="Segoe UI"/>
              </a:defRPr>
            </a:pPr>
            <a:r>
              <a:t>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023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2B5C"/>
                </a:solidFill>
                <a:latin typeface="Segoe UI"/>
              </a:defRPr>
            </a:pPr>
            <a:r>
              <a:t>Reasoning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434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06060"/>
                </a:solidFill>
                <a:latin typeface="Segoe UI"/>
              </a:defRPr>
            </a:pPr>
            <a:r>
              <a:t>Plans multi-step actions and adapts based on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578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333333"/>
                </a:solidFill>
                <a:latin typeface="Segoe UI"/>
              </a:defRPr>
            </a:pPr>
            <a:r>
              <a:t>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5257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2B5C"/>
                </a:solidFill>
                <a:latin typeface="Segoe UI"/>
              </a:defRPr>
            </a:pPr>
            <a:r>
              <a:t>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06060"/>
                </a:solidFill>
                <a:latin typeface="Segoe UI"/>
              </a:defRPr>
            </a:pPr>
            <a:r>
              <a:t>Maintains context across interactions and sessions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Where Agents Shine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5303520" cy="1828800"/>
          </a:xfrm>
          <a:prstGeom prst="rect">
            <a:avLst/>
          </a:prstGeom>
          <a:solidFill>
            <a:srgbClr val="DE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333333"/>
                </a:solidFill>
                <a:latin typeface="Segoe UI"/>
              </a:defRPr>
            </a:pPr>
            <a: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37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B5C"/>
                </a:solidFill>
                <a:latin typeface="Segoe UI"/>
              </a:defRPr>
            </a:pPr>
            <a:r>
              <a:t>Customer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28600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6060"/>
                </a:solidFill>
                <a:latin typeface="Segoe UI"/>
              </a:defRPr>
            </a:pPr>
            <a:r>
              <a:t>Resolves tickets autonomously, escalates when needed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59" y="1554480"/>
            <a:ext cx="5303520" cy="1828800"/>
          </a:xfrm>
          <a:prstGeom prst="rect">
            <a:avLst/>
          </a:prstGeom>
          <a:solidFill>
            <a:srgbClr val="DE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39" y="17373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333333"/>
                </a:solidFill>
                <a:latin typeface="Segoe UI"/>
              </a:defRPr>
            </a:pPr>
            <a:r>
              <a:t>⚙️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59" y="1737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B5C"/>
                </a:solidFill>
                <a:latin typeface="Segoe UI"/>
              </a:defRPr>
            </a:pPr>
            <a:r>
              <a:t>Process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59" y="228600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6060"/>
                </a:solidFill>
                <a:latin typeface="Segoe UI"/>
              </a:defRPr>
            </a:pPr>
            <a:r>
              <a:t>Expense approvals, order processing, HR onboarding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40480"/>
            <a:ext cx="5303520" cy="1828800"/>
          </a:xfrm>
          <a:prstGeom prst="rect">
            <a:avLst/>
          </a:prstGeom>
          <a:solidFill>
            <a:srgbClr val="DE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333333"/>
                </a:solidFill>
                <a:latin typeface="Segoe UI"/>
              </a:defRPr>
            </a:pPr>
            <a:r>
              <a:t>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023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B5C"/>
                </a:solidFill>
                <a:latin typeface="Segoe UI"/>
              </a:defRPr>
            </a:pPr>
            <a:r>
              <a:t>Code Assistant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57200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6060"/>
                </a:solidFill>
                <a:latin typeface="Segoe UI"/>
              </a:defRPr>
            </a:pPr>
            <a:r>
              <a:t>Writes, reviews, tests, and deploys code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59" y="3840480"/>
            <a:ext cx="5303520" cy="1828800"/>
          </a:xfrm>
          <a:prstGeom prst="rect">
            <a:avLst/>
          </a:prstGeom>
          <a:solidFill>
            <a:srgbClr val="DE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39" y="40233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333333"/>
                </a:solidFill>
                <a:latin typeface="Segoe UI"/>
              </a:defRPr>
            </a:pPr>
            <a:r>
              <a:t>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59" y="4023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B5C"/>
                </a:solidFill>
                <a:latin typeface="Segoe UI"/>
              </a:defRPr>
            </a:pPr>
            <a:r>
              <a:t>Enterprise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59" y="457200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6060"/>
                </a:solidFill>
                <a:latin typeface="Segoe UI"/>
              </a:defRPr>
            </a:pPr>
            <a:r>
              <a:t>Finds, summarizes, and synthesizes documents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Where Does MAF Fit?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6060"/>
                </a:solidFill>
                <a:latin typeface="Segoe UI"/>
              </a:defRPr>
            </a:pPr>
            <a:r>
              <a:t>The Microsoft AI Development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463040"/>
            <a:ext cx="9418320" cy="1051560"/>
          </a:xfrm>
          <a:prstGeom prst="rect">
            <a:avLst/>
          </a:prstGeom>
          <a:solidFill>
            <a:srgbClr val="6B6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Copilot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DEEFF"/>
                </a:solidFill>
                <a:latin typeface="Segoe UI"/>
              </a:defRPr>
            </a:pPr>
            <a:r>
              <a:t>No-code / low-code agents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743200"/>
            <a:ext cx="9418320" cy="1051560"/>
          </a:xfrm>
          <a:prstGeom prst="rect">
            <a:avLst/>
          </a:prstGeom>
          <a:solidFill>
            <a:srgbClr val="009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834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M365 Agents SDK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880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DEEFF"/>
                </a:solidFill>
                <a:latin typeface="Segoe UI"/>
              </a:defRPr>
            </a:pPr>
            <a:r>
              <a:t>Teams &amp; Microsoft 365 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023360"/>
            <a:ext cx="9418320" cy="10515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Microsoft Agent 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160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DEEFF"/>
                </a:solidFill>
                <a:latin typeface="Segoe UI"/>
              </a:defRPr>
            </a:pPr>
            <a:r>
              <a:t>Pro-code, full control, open source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5303520"/>
            <a:ext cx="9418320" cy="105156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5394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Azure AI Foundry  ·  Azure OpenAI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440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DEEFF"/>
                </a:solidFill>
                <a:latin typeface="Segoe UI"/>
              </a:defRPr>
            </a:pPr>
            <a:r>
              <a:t>Foundation models &amp; infrastructure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6492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⬆ You are here: maximum flexibility and control for developers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The Best of Both Worlds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6060"/>
                </a:solidFill>
                <a:latin typeface="Segoe UI"/>
              </a:defRPr>
            </a:pPr>
            <a:r>
              <a:t>Semantic Kernel + AutoGen → Agent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566160" cy="4572000"/>
          </a:xfrm>
          <a:prstGeom prst="rect">
            <a:avLst/>
          </a:prstGeom>
          <a:solidFill>
            <a:srgbClr val="6B6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Semantic Kernel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Enterprise-grade</a:t>
            </a:r>
            <a:br/>
            <a:r>
              <a:t>Dependency injection</a:t>
            </a:r>
            <a:br/>
            <a:r>
              <a:t>Telemetry &amp; logging</a:t>
            </a:r>
            <a:br/>
            <a:r>
              <a:t>Type safety</a:t>
            </a:r>
            <a:br/>
            <a:r>
              <a:t>Extensive model support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554480"/>
            <a:ext cx="3566160" cy="4572000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AutoGen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46888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Multi-agent patterns</a:t>
            </a:r>
            <a:br/>
            <a:r>
              <a:t>Simple abstractions</a:t>
            </a:r>
            <a:br/>
            <a:r>
              <a:t>Research innovations</a:t>
            </a:r>
            <a:br/>
            <a:r>
              <a:t>Dynamic collaboration</a:t>
            </a:r>
            <a:br/>
            <a:r>
              <a:t>Open-ended orchestration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554480"/>
            <a:ext cx="3566160" cy="4572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7373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Agent 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46888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All of the above, plus:</a:t>
            </a:r>
            <a:br/>
            <a:r>
              <a:t>Graph-based Workflows</a:t>
            </a:r>
            <a:br/>
            <a:r>
              <a:t>MCP &amp; AG-UI protocols</a:t>
            </a:r>
            <a:br/>
            <a:r>
              <a:t>Session management</a:t>
            </a:r>
            <a:br/>
            <a:r>
              <a:t>Middleware pipeline</a:t>
            </a:r>
            <a:br/>
            <a:r>
              <a:t>Agent-as-Tool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2004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33333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32004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33333"/>
                </a:solidFill>
                <a:latin typeface="Segoe UI"/>
              </a:defRPr>
            </a:pPr>
            <a:r>
              <a:t>=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MAF Architecture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3474720" cy="20116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Agent</a:t>
            </a:r>
            <a:br/>
            <a:r>
              <a:t>(AIAgent)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554480"/>
            <a:ext cx="3474720" cy="2011680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0116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Tools</a:t>
            </a:r>
            <a:br/>
            <a:r>
              <a:t>(Functions, MCP)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554480"/>
            <a:ext cx="3474720" cy="2011680"/>
          </a:xfrm>
          <a:prstGeom prst="rect">
            <a:avLst/>
          </a:prstGeom>
          <a:solidFill>
            <a:srgbClr val="6B6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20116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Middleware</a:t>
            </a:r>
            <a:br/>
            <a:r>
              <a:t>(Logging, Security)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2011680"/>
          </a:xfrm>
          <a:prstGeom prst="rect">
            <a:avLst/>
          </a:prstGeom>
          <a:solidFill>
            <a:srgbClr val="009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4805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Session</a:t>
            </a:r>
            <a:br/>
            <a:r>
              <a:t>(AgentSession)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4023360"/>
            <a:ext cx="3474720" cy="201168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4805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Providers</a:t>
            </a:r>
            <a:br/>
            <a:r>
              <a:t>(Azure OpenAI, Ollama…)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4023360"/>
            <a:ext cx="3474720" cy="201168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44805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Workflows</a:t>
            </a:r>
            <a:br/>
            <a:r>
              <a:t>(Graph orchestration)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Built on Open Standards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3566160" cy="4389120"/>
          </a:xfrm>
          <a:prstGeom prst="rect">
            <a:avLst/>
          </a:prstGeom>
          <a:solidFill>
            <a:srgbClr val="DE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78D4"/>
                </a:solidFill>
                <a:latin typeface="Segoe UI"/>
              </a:defRPr>
            </a:pPr>
            <a:r>
              <a:t>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06060"/>
                </a:solidFill>
                <a:latin typeface="Segoe UI"/>
              </a:defRPr>
            </a:pPr>
            <a:r>
              <a:t>Model Context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Standardized tool discovery &amp; invocation.</a:t>
            </a:r>
            <a:br/>
            <a:r>
              <a:t>Any MCP server works with any MCP client.</a:t>
            </a:r>
            <a:br/>
            <a:r>
              <a:t>The universal adapter for agent tools.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554480"/>
            <a:ext cx="3566160" cy="4389120"/>
          </a:xfrm>
          <a:prstGeom prst="rect">
            <a:avLst/>
          </a:prstGeom>
          <a:solidFill>
            <a:srgbClr val="DE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78D4"/>
                </a:solidFill>
                <a:latin typeface="Segoe UI"/>
              </a:defRPr>
            </a:pPr>
            <a:r>
              <a:t>AG-UI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560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06060"/>
                </a:solidFill>
                <a:latin typeface="Segoe UI"/>
              </a:defRPr>
            </a:pPr>
            <a:r>
              <a:t>Agent-to-UI Protocol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20040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Rich, real-time agent ↔ UI communication.</a:t>
            </a:r>
            <a:br/>
            <a:r>
              <a:t>Streaming responses, status updates, tool calls.</a:t>
            </a:r>
            <a:br/>
            <a:r>
              <a:t>Build interactive web frontends.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554480"/>
            <a:ext cx="3566160" cy="4389120"/>
          </a:xfrm>
          <a:prstGeom prst="rect">
            <a:avLst/>
          </a:prstGeom>
          <a:solidFill>
            <a:srgbClr val="DE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8288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78D4"/>
                </a:solidFill>
                <a:latin typeface="Segoe UI"/>
              </a:defRPr>
            </a:pPr>
            <a:r>
              <a:t>A2A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560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06060"/>
                </a:solidFill>
                <a:latin typeface="Segoe UI"/>
              </a:defRPr>
            </a:pPr>
            <a:r>
              <a:t>Agent-to-Agent Protocol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20040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Cross-system agent interoperability.</a:t>
            </a:r>
            <a:br/>
            <a:r>
              <a:t>Agents discover and communicate with each other.</a:t>
            </a:r>
            <a:br/>
            <a:r>
              <a:t>Works across organizations and platforms.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Where Are You on the AI Agent Journey?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06060"/>
                </a:solidFill>
                <a:latin typeface="Segoe UI"/>
              </a:defRPr>
            </a:pPr>
            <a:r>
              <a:t>Quick poll — raise your hand or use the chat: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286000"/>
            <a:ext cx="9144000" cy="1005840"/>
          </a:xfrm>
          <a:prstGeom prst="rect">
            <a:avLst/>
          </a:prstGeom>
          <a:solidFill>
            <a:srgbClr val="DE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468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333333"/>
                </a:solidFill>
                <a:latin typeface="Segoe UI"/>
              </a:defRPr>
            </a:pPr>
            <a:r>
              <a:t>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4688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2B5C"/>
                </a:solidFill>
                <a:latin typeface="Segoe UI"/>
              </a:defRPr>
            </a:pPr>
            <a:r>
              <a:t>I've built chatbots or copilots before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657600"/>
            <a:ext cx="9144000" cy="1005840"/>
          </a:xfrm>
          <a:prstGeom prst="rect">
            <a:avLst/>
          </a:prstGeom>
          <a:solidFill>
            <a:srgbClr val="DE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840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333333"/>
                </a:solidFill>
                <a:latin typeface="Segoe UI"/>
              </a:defRPr>
            </a:pPr>
            <a:r>
              <a:t>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38404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2B5C"/>
                </a:solidFill>
                <a:latin typeface="Segoe UI"/>
              </a:defRPr>
            </a:pPr>
            <a:r>
              <a:t>I've experimented with AI APIs (OpenAI, Azure, etc.)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5029200"/>
            <a:ext cx="9144000" cy="1005840"/>
          </a:xfrm>
          <a:prstGeom prst="rect">
            <a:avLst/>
          </a:prstGeom>
          <a:solidFill>
            <a:srgbClr val="DE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5212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333333"/>
                </a:solidFill>
                <a:latin typeface="Segoe UI"/>
              </a:defRPr>
            </a:pPr>
            <a:r>
              <a:t>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5212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2B5C"/>
                </a:solidFill>
                <a:latin typeface="Segoe UI"/>
              </a:defRPr>
            </a:pPr>
            <a:r>
              <a:t>This is my first time working with AI agents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Agent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DEFB"/>
                </a:solidFill>
                <a:latin typeface="Segoe UI"/>
              </a:defRPr>
            </a:pPr>
            <a:r>
              <a:t>09:30 – 10:15  ·  Theory + Lab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The AIAgent Abstraction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333333"/>
                </a:solidFill>
                <a:latin typeface="Segoe UI"/>
              </a:rPr>
              <a:t>An Agent = LLM + Instructions + Tools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333333"/>
                </a:solidFill>
                <a:latin typeface="Segoe UI"/>
              </a:rPr>
              <a:t>AIAgent is the core type in the framework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333333"/>
                </a:solidFill>
                <a:latin typeface="Segoe UI"/>
              </a:rPr>
              <a:t>RunAsync() — get the complete response at once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333333"/>
                </a:solidFill>
                <a:latin typeface="Segoe UI"/>
              </a:rPr>
              <a:t>RunStreamingAsync() — receive tokens as they're generated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333333"/>
                </a:solidFill>
                <a:latin typeface="Segoe UI"/>
              </a:rPr>
              <a:t>Provider-agnostic: same code works with Azure OpenAI, Ollama, Anthropic…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554480"/>
            <a:ext cx="4754880" cy="4114800"/>
          </a:xfrm>
          <a:prstGeom prst="rect">
            <a:avLst/>
          </a:prstGeom>
          <a:solidFill>
            <a:srgbClr val="DE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1828800"/>
            <a:ext cx="4206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2B5C"/>
                </a:solidFill>
                <a:latin typeface="Cascadia Code"/>
              </a:defRPr>
            </a:pPr>
            <a:r>
              <a:t>        ┌──────────────┐</a:t>
            </a:r>
            <a:br/>
            <a:r>
              <a:t>        │   AIAgent    │</a:t>
            </a:r>
            <a:br/>
            <a:r>
              <a:t>        ├──────────────┤</a:t>
            </a:r>
            <a:br/>
            <a:r>
              <a:t>        │ Instructions │</a:t>
            </a:r>
            <a:br/>
            <a:r>
              <a:t>        │ Provider     │</a:t>
            </a:r>
            <a:br/>
            <a:r>
              <a:t>        │ Tools [ ]    │</a:t>
            </a:r>
            <a:br/>
            <a:r>
              <a:t>        └──────┬───────┘</a:t>
            </a:r>
            <a:br/>
            <a:r>
              <a:t>               │</a:t>
            </a:r>
            <a:br/>
            <a:r>
              <a:t>        RunAsync()</a:t>
            </a:r>
            <a:br/>
            <a:r>
              <a:t>        RunStreamingAsync()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10 Lines to Your First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AIAgent agent = new AzureOpenAIClient(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        new Uri(endpoint), new AzureCliCredential())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    .GetChatClient("gpt-4o-mini")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    .AsAIAgent(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        instructions: "You are a friendly assistant.",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        name: "HelloAgent");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/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// Complete response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Console.WriteLine(await agent.RunAsync("What is the largest city in France?"));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/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// Or stream token-by-token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await foreach (var update in agent.RunStreamingAsync("Tell me a fun fact."))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    Console.Write(update);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Swap Models, Keep Your Code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554480"/>
          <a:ext cx="10515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743200"/>
                <a:gridCol w="457200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Provider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Azure OpenAI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✅ Fully supported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Chat Completions + Responses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✅ Fully supported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Direct OpenAI API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Azure AI Foundry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✅ Fully supported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Managed agent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Anthropic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✅ Supported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Claude models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Ollama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✅ Supported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Local / on-premises 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GitHub Copilot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✅ Supported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Copilot as a provider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Two Ways to Get Responses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5303520" cy="4572000"/>
          </a:xfrm>
          <a:prstGeom prst="rect">
            <a:avLst/>
          </a:prstGeom>
          <a:solidFill>
            <a:srgbClr val="DE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2B5C"/>
                </a:solidFill>
                <a:latin typeface="Cascadia Code"/>
              </a:defRPr>
            </a:pPr>
            <a:r>
              <a:t>RunAsync()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Segoe UI"/>
              </a:defRPr>
            </a:pPr>
            <a:r>
              <a:t>• Waits for the complete response</a:t>
            </a:r>
            <a:br/>
            <a:r>
              <a:t>• Returns the full text at once</a:t>
            </a:r>
            <a:br/>
            <a:r>
              <a:t>• Simpler to work with</a:t>
            </a:r>
            <a:br/>
            <a:r>
              <a:t>• Best for: background tasks,</a:t>
            </a:r>
            <a:br/>
            <a:r>
              <a:t>  non-interactive use cases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554480"/>
            <a:ext cx="5303520" cy="457200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7373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7C10"/>
                </a:solidFill>
                <a:latin typeface="Cascadia Code"/>
              </a:defRPr>
            </a:pPr>
            <a:r>
              <a:t>RunStreamingAsync()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4688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Segoe UI"/>
              </a:defRPr>
            </a:pPr>
            <a:r>
              <a:t>• Yields tokens as they're generated</a:t>
            </a:r>
            <a:br/>
            <a:r>
              <a:t>• Feels much faster to users</a:t>
            </a:r>
            <a:br/>
            <a:r>
              <a:t>• Uses IAsyncEnumerable&lt;T&gt;</a:t>
            </a:r>
            <a:br/>
            <a:r>
              <a:t>• Best for: chat UIs, real-time</a:t>
            </a:r>
            <a:br/>
            <a:r>
              <a:t>  interactive experiences</a:t>
            </a:r>
            <a:br/>
            <a:br/>
            <a:r>
              <a:t>⭐ Preferred for user-facing apps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🔬  Lab 1: Hello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2B5C"/>
                </a:solidFill>
                <a:latin typeface="Segoe UI"/>
              </a:defRPr>
            </a:pPr>
            <a:r>
              <a:t>Build your first agent in 15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Segoe UI"/>
              </a:rPr>
              <a:t>1.  Create a new console project and add MAF packages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Segoe UI"/>
              </a:rPr>
              <a:t>2.  Write an agent with custom instructions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Segoe UI"/>
              </a:rPr>
              <a:t>3.  Run it — non-streaming and streaming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Segoe UI"/>
              </a:rPr>
              <a:t>4.  Experiment with different personas (pirate, poet, expert…)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Segoe UI"/>
              </a:rPr>
              <a:t>5.  (Stretch) Build an interactive console chat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2286000"/>
            <a:ext cx="3474720" cy="3200400"/>
          </a:xfrm>
          <a:prstGeom prst="rect">
            <a:avLst/>
          </a:prstGeom>
          <a:solidFill>
            <a:srgbClr val="DE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246888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2B5C"/>
                </a:solidFill>
                <a:latin typeface="Segoe UI"/>
              </a:defRPr>
            </a:pPr>
            <a:r>
              <a:t>📁 Lab folder:</a:t>
            </a:r>
            <a:br/>
            <a:r>
              <a:t>labs/lab1-hello-agent/</a:t>
            </a:r>
            <a:br/>
            <a:br/>
            <a:r>
              <a:t>⏱️ 15 minutes</a:t>
            </a:r>
            <a:br/>
            <a:br/>
            <a:r>
              <a:t>✅ Success:</a:t>
            </a:r>
            <a:br/>
            <a:r>
              <a:t>Agent responds &amp;</a:t>
            </a:r>
            <a:br/>
            <a:r>
              <a:t>streams tokens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Tools &amp; Function Calling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DEFB"/>
                </a:solidFill>
                <a:latin typeface="Segoe UI"/>
              </a:defRPr>
            </a:pPr>
            <a:r>
              <a:t>10:30 – 11:15  ·  Theory + Lab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Agents Without Tools Are Just Chatbots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2B5C"/>
                </a:solidFill>
                <a:latin typeface="Segoe UI"/>
              </a:defRPr>
            </a:pPr>
            <a:r>
              <a:t>Tools give agents the ability to DO things — not just TALK about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60320"/>
            <a:ext cx="5303520" cy="3474720"/>
          </a:xfrm>
          <a:prstGeom prst="rect">
            <a:avLst/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13438"/>
                </a:solidFill>
                <a:latin typeface="Segoe UI"/>
              </a:defRPr>
            </a:pPr>
            <a:r>
              <a:t>❌  Without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Segoe UI"/>
              </a:defRPr>
            </a:pPr>
            <a:r>
              <a:t>"What's the weather in Amsterdam?"</a:t>
            </a:r>
            <a:br/>
            <a:br/>
            <a:r>
              <a:t>→ "I don't have access to real-time</a:t>
            </a:r>
            <a:br/>
            <a:r>
              <a:t>   weather data, but typically..."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560320"/>
            <a:ext cx="5303520" cy="347472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743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7C10"/>
                </a:solidFill>
                <a:latin typeface="Segoe UI"/>
              </a:defRPr>
            </a:pPr>
            <a:r>
              <a:t>✅  With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38328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Segoe UI"/>
              </a:defRPr>
            </a:pPr>
            <a:r>
              <a:t>"What's the weather in Amsterdam?"</a:t>
            </a:r>
            <a:br/>
            <a:br/>
            <a:r>
              <a:t>→ Calls GetWeather("Amsterdam")</a:t>
            </a:r>
            <a:br/>
            <a:r>
              <a:t>→ "It's 15°C and cloudy in</a:t>
            </a:r>
            <a:br/>
            <a:r>
              <a:t>   Amsterdam right now."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Your Code → Agent's Superpower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// 1. Define a tool — just a method with [Description] attributes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[Description("Get the current weather for a given location.")]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static string GetWeather(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    [Description("The city name, e.g. 'Amsterdam'.")] string location)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    =&gt; $"The weather in {location} is cloudy, 15°C.";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/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// 2. Register the tool with the agent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AIAgent agent = new AzureOpenAIClient(new Uri(endpoint), new AzureCliCredential())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    .GetChatClient("gpt-4o-mini")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    .AsAIAgent(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        instructions: "You are a helpful weather assistant.",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        tools: [AIFunctionFactory.Create(GetWeather)]);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/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// 3. The agent calls the tool automatically when needed!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Console.WriteLine(await agent.RunAsync("What's the weather in Amsterdam?"));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The LLM Decides — You Don't Hard-Code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463040"/>
            <a:ext cx="594360" cy="59436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508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2B5C"/>
                </a:solidFill>
                <a:latin typeface="Segoe UI"/>
              </a:defRPr>
            </a:pPr>
            <a:r>
              <a:t>User asks 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508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06060"/>
                </a:solidFill>
                <a:latin typeface="Segoe UI"/>
              </a:defRPr>
            </a:pPr>
            <a:r>
              <a:t>"What's the weather in Amsterdam?"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743200"/>
            <a:ext cx="594360" cy="594360"/>
          </a:xfrm>
          <a:prstGeom prst="ellipse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788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2B5C"/>
                </a:solidFill>
                <a:latin typeface="Segoe UI"/>
              </a:defRPr>
            </a:pPr>
            <a:r>
              <a:t>LLM inspects available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788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06060"/>
                </a:solidFill>
                <a:latin typeface="Segoe UI"/>
              </a:defRPr>
            </a:pPr>
            <a:r>
              <a:t>Sees GetWeather(location) — matches!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023360"/>
            <a:ext cx="594360" cy="594360"/>
          </a:xfrm>
          <a:prstGeom prst="ellipse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069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2B5C"/>
                </a:solidFill>
                <a:latin typeface="Segoe UI"/>
              </a:defRPr>
            </a:pPr>
            <a:r>
              <a:t>Framework executes the function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069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06060"/>
                </a:solidFill>
                <a:latin typeface="Segoe UI"/>
              </a:defRPr>
            </a:pPr>
            <a:r>
              <a:t>GetWeather("Amsterdam") → "cloudy, 15°C"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303519"/>
            <a:ext cx="594360" cy="59436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394959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3492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2B5C"/>
                </a:solidFill>
                <a:latin typeface="Segoe UI"/>
              </a:defRPr>
            </a:pPr>
            <a:r>
              <a:t>LLM crafts the 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534923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06060"/>
                </a:solidFill>
                <a:latin typeface="Segoe UI"/>
              </a:defRPr>
            </a:pPr>
            <a:r>
              <a:t>"It's currently 15°C and cloudy in Amsterdam."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The MAF Tool Ecosystem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515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365760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Tool Type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Provider Support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Function Tools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Your own C#/Python methods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All providers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Code Interpreter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Sandboxed code execution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Responses, Assistants, Foundry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File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Search uploaded documents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Responses, Assistants, Foundry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Web Search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Live web search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Chat Completion, Responses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Hosted MCP Tools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Microsoft-hosted MCP servers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Responses, Foundry, Anthropic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Local MCP Tools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Your own / 3rd-party MCP servers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All providers with functions 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Agents Calling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6060"/>
                </a:solidFill>
                <a:latin typeface="Segoe UI"/>
              </a:defRPr>
            </a:pPr>
            <a:r>
              <a:t>The Agent-as-a-Tool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// Specialist agent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AIAgent weatherAgent = client.AsAIAgent(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    instructions: "You answer weather questions.",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    name: "WeatherAgent",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    description: "Answers weather questions.",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    tools: [AIFunctionFactory.Create(GetWeather)]);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/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// Main agent delegates to specialists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AIAgent mainAgent = client.AsAIAgent(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    instructions: "You are a helpful assistant. Delegate as needed.",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    tools: [weatherAgent.AsAIFunction()]);  // Agent becomes a tool!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/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mainAgent.RunAsync("What's the weather in Paris?");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// → mainAgent calls weatherAgent → weatherAgent calls GetWeather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MCP — Model Context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6060"/>
                </a:solidFill>
                <a:latin typeface="Segoe UI"/>
              </a:defRPr>
            </a:pPr>
            <a:r>
              <a:t>The universal adapter for agent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Segoe UI"/>
              </a:rPr>
              <a:t>MCP — standardized tool discovery &amp; invocation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Segoe UI"/>
              </a:rPr>
              <a:t>Hosted MCP — Microsoft manages the server (via Azure AI Foundry)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Segoe UI"/>
              </a:rPr>
              <a:t>Local MCP — you run your own tool server (any language, any platform)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Segoe UI"/>
              </a:rPr>
              <a:t>Any MCP client works with any MCP server — no vendor lock-in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Segoe UI"/>
              </a:rPr>
              <a:t>Rapidly becoming the industry standard (Anthropic, OpenAI, Microsoft, Google…)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4"/>
                </a:solidFill>
                <a:latin typeface="Segoe UI"/>
              </a:defRPr>
            </a:pPr>
            <a:r>
              <a:t>💡 Think of MCP as USB-C for AI tools — one standard plug, everything connects.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🔬  Lab 2: Agent with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2B5C"/>
                </a:solidFill>
                <a:latin typeface="Segoe UI"/>
              </a:defRPr>
            </a:pPr>
            <a:r>
              <a:t>Give your agent superpowers — 25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Segoe UI"/>
              </a:rPr>
              <a:t>1.  Define a function tool with [Description] attributes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Segoe UI"/>
              </a:rPr>
              <a:t>2.  Register it with the agent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Segoe UI"/>
              </a:rPr>
              <a:t>3.  Ask a question that triggers the tool — observe the magic!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Segoe UI"/>
              </a:rPr>
              <a:t>4.  Add a second tool — see the agent use both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Segoe UI"/>
              </a:rPr>
              <a:t>5.  (Stretch) Try Agent-as-a-Tool: build specialist agents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Segoe UI"/>
              </a:rPr>
              <a:t>6.  (Stretch) Experiment with bad tool descriptions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2286000"/>
            <a:ext cx="3474720" cy="3200400"/>
          </a:xfrm>
          <a:prstGeom prst="rect">
            <a:avLst/>
          </a:prstGeom>
          <a:solidFill>
            <a:srgbClr val="DE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246888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2B5C"/>
                </a:solidFill>
                <a:latin typeface="Segoe UI"/>
              </a:defRPr>
            </a:pPr>
            <a:r>
              <a:t>📁 Lab folder:</a:t>
            </a:r>
            <a:br/>
            <a:r>
              <a:t>labs/lab2-tools/</a:t>
            </a:r>
            <a:br/>
            <a:br/>
            <a:r>
              <a:t>⏱️ 25 minutes</a:t>
            </a:r>
            <a:br/>
            <a:br/>
            <a:r>
              <a:t>✅ Success:</a:t>
            </a:r>
            <a:br/>
            <a:r>
              <a:t>Agent calls your</a:t>
            </a:r>
            <a:br/>
            <a:r>
              <a:t>function automatically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Conversations, Memory</a:t>
            </a:r>
            <a:br/>
            <a:r>
              <a:t>&amp; Middleware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DEFB"/>
                </a:solidFill>
                <a:latin typeface="Segoe UI"/>
              </a:defRPr>
            </a:pPr>
            <a:r>
              <a:t>11:15 – 12:00  ·  Theory + Lab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Agents Forget (Unless You Help)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5303520" cy="4572000"/>
          </a:xfrm>
          <a:prstGeom prst="rect">
            <a:avLst/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13438"/>
                </a:solidFill>
                <a:latin typeface="Segoe UI"/>
              </a:defRPr>
            </a:pPr>
            <a:r>
              <a:t>❌  Without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scadia Code"/>
              </a:defRPr>
            </a:pPr>
            <a:r>
              <a:t>agent.RunAsync("My name is Alice.")</a:t>
            </a:r>
            <a:br/>
            <a:r>
              <a:t>→ "Nice to meet you, Alice!"</a:t>
            </a:r>
            <a:br/>
            <a:br/>
            <a:r>
              <a:t>agent.RunAsync("What is my name?")</a:t>
            </a:r>
            <a:br/>
            <a:r>
              <a:t>→ "I don't know your name.</a:t>
            </a:r>
            <a:br/>
            <a:r>
              <a:t>   Could you tell me?"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554480"/>
            <a:ext cx="5303520" cy="457200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7C10"/>
                </a:solidFill>
                <a:latin typeface="Segoe UI"/>
              </a:defRPr>
            </a:pPr>
            <a:r>
              <a:t>✅  With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37744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scadia Code"/>
              </a:defRPr>
            </a:pPr>
            <a:r>
              <a:t>var session = await agent</a:t>
            </a:r>
            <a:br/>
            <a:r>
              <a:t>    .CreateSessionAsync();</a:t>
            </a:r>
            <a:br/>
            <a:br/>
            <a:r>
              <a:t>agent.RunAsync("My name is Alice.",</a:t>
            </a:r>
            <a:br/>
            <a:r>
              <a:t>    session);</a:t>
            </a:r>
            <a:br/>
            <a:r>
              <a:t>→ "Nice to meet you, Alice!"</a:t>
            </a:r>
            <a:br/>
            <a:br/>
            <a:r>
              <a:t>agent.RunAsync("What is my name?",</a:t>
            </a:r>
            <a:br/>
            <a:r>
              <a:t>    session);</a:t>
            </a:r>
            <a:br/>
            <a:r>
              <a:t>→ "Your name is Alice!"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Sessions Keep the Conversation Alive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// Create a session — maintains conversation history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AgentSession session = await agent.CreateSessionAsync();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/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// Turn 1: introduce yourself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Console.WriteLine(await agent.RunAsync(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    "My name is Alice and I love hiking.", session));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/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// Turn 2: the agent remembers context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Console.WriteLine(await agent.RunAsync(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    "What do you remember about me?", session));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/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// Session serialization for persistence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var serialized = agent.SerializeSession(session);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ascadia Code"/>
              </a:rPr>
              <a:t>AgentSession restored = await agent.DeserializeSessionAsync(serialized);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Beyond Chat History — Injecting Knowledge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900">
                <a:solidFill>
                  <a:srgbClr val="333333"/>
                </a:solidFill>
                <a:latin typeface="Segoe UI"/>
              </a:rPr>
              <a:t>Context Providers</a:t>
            </a:r>
            <a:r>
              <a:rPr sz="1900">
                <a:solidFill>
                  <a:srgbClr val="333333"/>
                </a:solidFill>
                <a:latin typeface="Segoe UI"/>
              </a:rPr>
              <a:t> — inject persistent information into every agent run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333333"/>
                </a:solidFill>
                <a:latin typeface="Segoe UI"/>
              </a:rPr>
              <a:t>Use cases: user preferences, organization rules, knowledge base entries</a:t>
            </a:r>
          </a:p>
          <a:p>
            <a:pPr>
              <a:spcAft>
                <a:spcPts val="800"/>
              </a:spcAft>
            </a:pPr>
            <a:r>
              <a:rPr b="1" sz="1900">
                <a:solidFill>
                  <a:srgbClr val="333333"/>
                </a:solidFill>
                <a:latin typeface="Segoe UI"/>
              </a:rPr>
              <a:t>ChatHistoryProvider</a:t>
            </a:r>
            <a:r>
              <a:rPr sz="1900">
                <a:solidFill>
                  <a:srgbClr val="333333"/>
                </a:solidFill>
                <a:latin typeface="Segoe UI"/>
              </a:rPr>
              <a:t> — custom storage for conversation history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333333"/>
                </a:solidFill>
                <a:latin typeface="Segoe UI"/>
              </a:rPr>
              <a:t>InMemoryHistoryProvider (default) vs CosmosDB, SQL, Redis (production)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333333"/>
                </a:solidFill>
                <a:latin typeface="Segoe UI"/>
              </a:rPr>
              <a:t>Context Providers vs RAG: providers add context per-turn, RAG retrieves on-demand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78D4"/>
                </a:solidFill>
                <a:latin typeface="Segoe UI"/>
              </a:defRPr>
            </a:pPr>
            <a:r>
              <a:t>💡 Context providers are how you bring domain knowledge to agents — think of them as "always-on memory".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Middleware: Intercept Everything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828800"/>
            <a:ext cx="1005840" cy="5943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74519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82880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3333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828800"/>
            <a:ext cx="1005840" cy="594360"/>
          </a:xfrm>
          <a:prstGeom prst="rect">
            <a:avLst/>
          </a:prstGeom>
          <a:solidFill>
            <a:srgbClr val="D1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1874519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82880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3333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1828800"/>
            <a:ext cx="1005840" cy="594360"/>
          </a:xfrm>
          <a:prstGeom prst="rect">
            <a:avLst/>
          </a:prstGeom>
          <a:solidFill>
            <a:srgbClr val="6B6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874519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Logging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82880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3333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828800"/>
            <a:ext cx="1005840" cy="594360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874519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182880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3333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1828800"/>
            <a:ext cx="1005840" cy="594360"/>
          </a:xfrm>
          <a:prstGeom prst="rect">
            <a:avLst/>
          </a:prstGeom>
          <a:solidFill>
            <a:srgbClr val="6B6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1874519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Logging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82880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3333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1828800"/>
            <a:ext cx="1005840" cy="5943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1874519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B5C"/>
                </a:solidFill>
                <a:latin typeface="Segoe UI"/>
              </a:defRPr>
            </a:pPr>
            <a:r>
              <a:t>Three types of middleware: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7490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B5C"/>
                </a:solidFill>
                <a:latin typeface="Segoe UI"/>
              </a:defRPr>
            </a:pPr>
            <a:r>
              <a:t>Agent Run Middleware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74903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6060"/>
                </a:solidFill>
                <a:latin typeface="Segoe UI"/>
              </a:defRPr>
            </a:pPr>
            <a:r>
              <a:t>Intercept input/output of every agent.RunAsync() call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663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B5C"/>
                </a:solidFill>
                <a:latin typeface="Segoe UI"/>
              </a:defRPr>
            </a:pPr>
            <a:r>
              <a:t>Function Calling Middleware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46634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6060"/>
                </a:solidFill>
                <a:latin typeface="Segoe UI"/>
              </a:defRPr>
            </a:pPr>
            <a:r>
              <a:t>Intercept every tool invocation — log, modify, or block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577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B5C"/>
                </a:solidFill>
                <a:latin typeface="Segoe UI"/>
              </a:defRPr>
            </a:pPr>
            <a:r>
              <a:t>IChatClient Middleware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55778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6060"/>
                </a:solidFill>
                <a:latin typeface="Segoe UI"/>
              </a:defRPr>
            </a:pPr>
            <a:r>
              <a:t>Intercept raw LLM calls for token-level control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What Can Middleware Do?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54480"/>
            <a:ext cx="3566160" cy="2011680"/>
          </a:xfrm>
          <a:prstGeom prst="rect">
            <a:avLst/>
          </a:prstGeom>
          <a:solidFill>
            <a:srgbClr val="DE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333333"/>
                </a:solidFill>
                <a:latin typeface="Segoe UI"/>
              </a:defRPr>
            </a:pPr>
            <a:r>
              <a:t>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37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2B5C"/>
                </a:solidFill>
                <a:latin typeface="Segoe UI"/>
              </a:defRPr>
            </a:pPr>
            <a:r>
              <a:t>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6060"/>
                </a:solidFill>
                <a:latin typeface="Segoe UI"/>
              </a:defRPr>
            </a:pPr>
            <a:r>
              <a:t>Block sensitive queries, validate input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554480"/>
            <a:ext cx="3566160" cy="2011680"/>
          </a:xfrm>
          <a:prstGeom prst="rect">
            <a:avLst/>
          </a:prstGeom>
          <a:solidFill>
            <a:srgbClr val="DE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737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333333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737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2B5C"/>
                </a:solidFill>
                <a:latin typeface="Segoe UI"/>
              </a:defRPr>
            </a:pPr>
            <a:r>
              <a:t>Telemetry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4688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6060"/>
                </a:solidFill>
                <a:latin typeface="Segoe UI"/>
              </a:defRPr>
            </a:pPr>
            <a:r>
              <a:t>Log latency, token counts, usage metrics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554480"/>
            <a:ext cx="3566160" cy="2011680"/>
          </a:xfrm>
          <a:prstGeom prst="rect">
            <a:avLst/>
          </a:prstGeom>
          <a:solidFill>
            <a:srgbClr val="DE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37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333333"/>
                </a:solidFill>
                <a:latin typeface="Segoe UI"/>
              </a:defRPr>
            </a:pPr>
            <a:r>
              <a:t>🛡️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1737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2B5C"/>
                </a:solidFill>
                <a:latin typeface="Segoe UI"/>
              </a:defRPr>
            </a:pPr>
            <a:r>
              <a:t>Content Filtering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4688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6060"/>
                </a:solidFill>
                <a:latin typeface="Segoe UI"/>
              </a:defRPr>
            </a:pPr>
            <a:r>
              <a:t>Check responses for policy violations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23360"/>
            <a:ext cx="3566160" cy="2011680"/>
          </a:xfrm>
          <a:prstGeom prst="rect">
            <a:avLst/>
          </a:prstGeom>
          <a:solidFill>
            <a:srgbClr val="DE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06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333333"/>
                </a:solidFill>
                <a:latin typeface="Segoe UI"/>
              </a:defRPr>
            </a:pPr>
            <a:r>
              <a:t>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206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2B5C"/>
                </a:solidFill>
                <a:latin typeface="Segoe UI"/>
              </a:defRPr>
            </a:pPr>
            <a:r>
              <a:t>Retry 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9377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6060"/>
                </a:solidFill>
                <a:latin typeface="Segoe UI"/>
              </a:defRPr>
            </a:pPr>
            <a:r>
              <a:t>Retry failed LLM calls with backoff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4023360"/>
            <a:ext cx="3566160" cy="2011680"/>
          </a:xfrm>
          <a:prstGeom prst="rect">
            <a:avLst/>
          </a:prstGeom>
          <a:solidFill>
            <a:srgbClr val="DE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4206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333333"/>
                </a:solidFill>
                <a:latin typeface="Segoe UI"/>
              </a:defRPr>
            </a:pPr>
            <a:r>
              <a:t>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206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2B5C"/>
                </a:solidFill>
                <a:latin typeface="Segoe UI"/>
              </a:defRPr>
            </a:pPr>
            <a:r>
              <a:t>Audit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9377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6060"/>
                </a:solidFill>
                <a:latin typeface="Segoe UI"/>
              </a:defRPr>
            </a:pPr>
            <a:r>
              <a:t>Log all tool calls for compliance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4023360"/>
            <a:ext cx="3566160" cy="2011680"/>
          </a:xfrm>
          <a:prstGeom prst="rect">
            <a:avLst/>
          </a:prstGeom>
          <a:solidFill>
            <a:srgbClr val="DE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4206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333333"/>
                </a:solidFill>
                <a:latin typeface="Segoe UI"/>
              </a:defRPr>
            </a:pPr>
            <a:r>
              <a:t>⏱️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206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2B5C"/>
                </a:solidFill>
                <a:latin typeface="Segoe UI"/>
              </a:defRPr>
            </a:pPr>
            <a:r>
              <a:t>Rate Limiting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9377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6060"/>
                </a:solidFill>
                <a:latin typeface="Segoe UI"/>
              </a:defRPr>
            </a:pPr>
            <a:r>
              <a:t>Throttle requests per user/session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🔬  Lab 3: Multi-Turn Agent with Middleware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2B5C"/>
                </a:solidFill>
                <a:latin typeface="Segoe UI"/>
              </a:defRPr>
            </a:pPr>
            <a:r>
              <a:t>Stateful conversations + enterprise plumbing — 25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Segoe UI"/>
              </a:rPr>
              <a:t>1.  Create a session and have a multi-turn conversation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Segoe UI"/>
              </a:rPr>
              <a:t>2.  Verify the agent remembers context across turns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Segoe UI"/>
              </a:rPr>
              <a:t>3.  Add logging middleware (message counts, turn tracking)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Segoe UI"/>
              </a:rPr>
              <a:t>4.  Add function calling middleware (tool name, timing)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Segoe UI"/>
              </a:rPr>
              <a:t>5.  (Stretch) Build security middleware that blocks sensitive queries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2286000"/>
            <a:ext cx="3474720" cy="3200400"/>
          </a:xfrm>
          <a:prstGeom prst="rect">
            <a:avLst/>
          </a:prstGeom>
          <a:solidFill>
            <a:srgbClr val="DE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246888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2B5C"/>
                </a:solidFill>
                <a:latin typeface="Segoe UI"/>
              </a:defRPr>
            </a:pPr>
            <a:r>
              <a:t>📁 Lab folder:</a:t>
            </a:r>
            <a:br/>
            <a:r>
              <a:t>labs/lab3-conversations</a:t>
            </a:r>
            <a:br/>
            <a:r>
              <a:t>  -middleware/</a:t>
            </a:r>
            <a:br/>
            <a:br/>
            <a:r>
              <a:t>⏱️ 25 minutes</a:t>
            </a:r>
            <a:br/>
            <a:br/>
            <a:r>
              <a:t>✅ Success:</a:t>
            </a:r>
            <a:br/>
            <a:r>
              <a:t>Multi-turn works &amp;</a:t>
            </a:r>
            <a:br/>
            <a:r>
              <a:t>middleware logs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Workflows &amp; Multi-Agent</a:t>
            </a:r>
            <a:br/>
            <a:r>
              <a:t>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DEFB"/>
                </a:solidFill>
                <a:latin typeface="Segoe UI"/>
              </a:defRPr>
            </a:pPr>
            <a:r>
              <a:t>12:45 – 13:30  ·  Theory + Lab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When a Single Agent Isn't Enough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6070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30352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Use an Agent when…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Use a Workflow when…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Task is open-ended or conversational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Process has well-defined steps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Need autonomous tool use &amp; planning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Need explicit control over execution order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Single LLM call (+ tools) suffices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Multiple agents/functions must coordinate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Exploration &amp; creativity needed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Reliability &amp; repeatability required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4"/>
                </a:solidFill>
                <a:latin typeface="Segoe UI"/>
              </a:defRPr>
            </a:pPr>
            <a:r>
              <a:t>💡 Rule of thumb: "If you can draw a flowchart, use a workflow."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Executors + Edges =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Segoe UI"/>
              </a:rPr>
              <a:t>Executors — the nodes (steps) in your workflow: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Segoe UI"/>
              </a:rPr>
              <a:t>    • Function Executor — runs your code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Segoe UI"/>
              </a:rPr>
              <a:t>    • Agent Executor — runs an LLM agent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Segoe UI"/>
              </a:rPr>
              <a:t>    • Nested Workflow — embeds a sub-workflow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Segoe UI"/>
              </a:rPr>
              <a:t/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Segoe UI"/>
              </a:rPr>
              <a:t>Edges — connect executors (arrows in the graph):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Segoe UI"/>
              </a:rPr>
              <a:t>    • Direct edges — always follow this path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Segoe UI"/>
              </a:rPr>
              <a:t>    • Conditional edges — choose path based on output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Segoe UI"/>
              </a:rPr>
              <a:t/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Segoe UI"/>
              </a:rPr>
              <a:t>WorkflowContext — typed message passing between nodes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Segoe UI"/>
              </a:rPr>
              <a:t>    • SendMessageAsync() — forward to next executor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Segoe UI"/>
              </a:rPr>
              <a:t>    • YieldOutputAsync() — final workflow output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Common Multi-Agent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5486400" cy="21945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Sequential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scadia Code"/>
              </a:defRPr>
            </a:pPr>
            <a:r>
              <a:t>A → B →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9202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Simple pipeline</a:t>
            </a:r>
            <a:br/>
            <a:r>
              <a:t>Each step feeds the next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63040"/>
            <a:ext cx="5486400" cy="2194560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Parallel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scadia Code"/>
              </a:defRPr>
            </a:pPr>
            <a:r>
              <a:t>A → [B, C] → 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9202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Fan-out / fan-in</a:t>
            </a:r>
            <a:br/>
            <a:r>
              <a:t>Multiple agents in parallel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023360"/>
            <a:ext cx="5486400" cy="219456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06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Conditional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5488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scadia Code"/>
              </a:defRPr>
            </a:pPr>
            <a:r>
              <a:t>A → if X: B</a:t>
            </a:r>
            <a:br/>
            <a:r>
              <a:t>     else: 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4805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Route based on output</a:t>
            </a:r>
            <a:br/>
            <a:r>
              <a:t>Dynamic execution paths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4023360"/>
            <a:ext cx="5486400" cy="2194560"/>
          </a:xfrm>
          <a:prstGeom prst="rect">
            <a:avLst/>
          </a:prstGeom>
          <a:solidFill>
            <a:srgbClr val="6B6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206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Supervisor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75488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scadia Code"/>
              </a:defRPr>
            </a:pPr>
            <a:r>
              <a:t>Manager →</a:t>
            </a:r>
            <a:br/>
            <a:r>
              <a:t>  [B, C, 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44805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One agent delegates</a:t>
            </a:r>
            <a:br/>
            <a:r>
              <a:t>to specialists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Long-Running Workflows Need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2000">
                <a:solidFill>
                  <a:srgbClr val="333333"/>
                </a:solidFill>
                <a:latin typeface="Segoe UI"/>
              </a:rPr>
              <a:t>Checkpointing</a:t>
            </a:r>
            <a:r>
              <a:rPr sz="2000">
                <a:solidFill>
                  <a:srgbClr val="333333"/>
                </a:solidFill>
                <a:latin typeface="Segoe UI"/>
              </a:rPr>
              <a:t> — save/restore workflow state at any point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333333"/>
                </a:solidFill>
                <a:latin typeface="Segoe UI"/>
              </a:rPr>
              <a:t>Human-in-the-Loop</a:t>
            </a:r>
            <a:r>
              <a:rPr sz="2000">
                <a:solidFill>
                  <a:srgbClr val="333333"/>
                </a:solidFill>
                <a:latin typeface="Segoe UI"/>
              </a:rPr>
              <a:t> — pause workflow, get human approval, resume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333333"/>
                </a:solidFill>
                <a:latin typeface="Segoe UI"/>
              </a:rPr>
              <a:t>Durable execution</a:t>
            </a:r>
            <a:r>
              <a:rPr sz="2000">
                <a:solidFill>
                  <a:srgbClr val="333333"/>
                </a:solidFill>
                <a:latin typeface="Segoe UI"/>
              </a:rPr>
              <a:t> — survive process restarts and failures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333333"/>
                </a:solidFill>
                <a:latin typeface="Segoe UI"/>
              </a:rPr>
              <a:t>Azure Functions integration</a:t>
            </a:r>
            <a:r>
              <a:rPr sz="2000">
                <a:solidFill>
                  <a:srgbClr val="333333"/>
                </a:solidFill>
                <a:latin typeface="Segoe UI"/>
              </a:rPr>
              <a:t> — serverless, durable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8D4"/>
                </a:solidFill>
                <a:latin typeface="Cascadia Code"/>
              </a:defRPr>
            </a:pPr>
            <a:r>
              <a:t>Input → [Agent A] → 💾 Checkpoint → ⏸️ Human Approval → [Agent B] → 💾 Checkpoint → Output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From Console to Production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515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411480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Hosting Option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Key Feature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ASP.NET 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Web APIs, custom backends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Full control, DI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Azure Functions (Durable)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Serverless, long-running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Pay-per-use, auto-scale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A2A Protocol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Multi-agent systems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Cross-system agent discovery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AG-UI Protocol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Web frontends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Rich streaming UI experience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OpenAI-Compatible Endpoints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OpenAI-compatible clients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Drop-in replacement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🔬  Lab 4: Build a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2B5C"/>
                </a:solidFill>
                <a:latin typeface="Segoe UI"/>
              </a:defRPr>
            </a:pPr>
            <a:r>
              <a:t>Chain agents into an orchestrated pipeline — 25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Segoe UI"/>
              </a:rPr>
              <a:t>1.  Build a simple function workflow: UpperCase → Reverse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Segoe UI"/>
              </a:rPr>
              <a:t>2.  Observe data flowing between executors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Segoe UI"/>
              </a:rPr>
              <a:t>3.  Build an agent workflow: Research → Writer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Segoe UI"/>
              </a:rPr>
              <a:t>4.  See how two LLM agents collaborate via the graph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Segoe UI"/>
              </a:rPr>
              <a:t>5.  (Stretch) Add a Translator step to the pipeline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Segoe UI"/>
              </a:rPr>
              <a:t>6.  (Stretch) Add conditional routing or checkpointing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2286000"/>
            <a:ext cx="3474720" cy="3200400"/>
          </a:xfrm>
          <a:prstGeom prst="rect">
            <a:avLst/>
          </a:prstGeom>
          <a:solidFill>
            <a:srgbClr val="DE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246888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2B5C"/>
                </a:solidFill>
                <a:latin typeface="Segoe UI"/>
              </a:defRPr>
            </a:pPr>
            <a:r>
              <a:t>📁 Lab folder:</a:t>
            </a:r>
            <a:br/>
            <a:r>
              <a:t>labs/lab4-workflows/</a:t>
            </a:r>
            <a:br/>
            <a:br/>
            <a:r>
              <a:t>⏱️ 25 minutes</a:t>
            </a:r>
            <a:br/>
            <a:br/>
            <a:r>
              <a:t>✅ Success:</a:t>
            </a:r>
            <a:br/>
            <a:r>
              <a:t>Data flows through</a:t>
            </a:r>
            <a:br/>
            <a:r>
              <a:t>a multi-step graph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🏗️  Hackathon</a:t>
            </a:r>
            <a:br/>
            <a:r>
              <a:t>Transform the Partner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DEFB"/>
                </a:solidFill>
                <a:latin typeface="Segoe UI"/>
              </a:defRPr>
            </a:pPr>
            <a:r>
              <a:t>13:30 – 17:00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Meet [Partner App Name]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6060"/>
                </a:solidFill>
                <a:latin typeface="Segoe UI"/>
              </a:defRPr>
            </a:pPr>
            <a:r>
              <a:t>CUSTOMIZE: Add screenshots and demo the existing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06060"/>
                </a:solidFill>
                <a:latin typeface="Segoe UI"/>
              </a:defRPr>
            </a:pPr>
            <a:r>
              <a:t>[ Insert partner app screenshots here ]</a:t>
            </a:r>
            <a:br/>
            <a:br/>
            <a:r>
              <a:t>Walk through the current functionality, user journeys,</a:t>
            </a:r>
            <a:br/>
            <a:r>
              <a:t>and pain points that agents could address.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The Challenge: Add an Agentic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463040"/>
            <a:ext cx="2743200" cy="4846320"/>
          </a:xfrm>
          <a:prstGeom prst="rect">
            <a:avLst/>
          </a:prstGeom>
          <a:solidFill>
            <a:srgbClr val="DE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Segoe UI"/>
              </a:defRPr>
            </a:pPr>
            <a: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2B5C"/>
                </a:solidFill>
                <a:latin typeface="Segoe UI"/>
              </a:defRPr>
            </a:pPr>
            <a:r>
              <a:t>Conversational</a:t>
            </a:r>
            <a:br/>
            <a:r>
              <a:t>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6060"/>
                </a:solidFill>
                <a:latin typeface="Segoe UI"/>
              </a:defRPr>
            </a:pPr>
            <a:r>
              <a:t>Chat-based agent that helps</a:t>
            </a:r>
            <a:br/>
            <a:r>
              <a:t>users navigate the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78D4"/>
                </a:solidFill>
                <a:latin typeface="Segoe UI"/>
              </a:defRPr>
            </a:pPr>
            <a:r>
              <a:t>MAF Concepts:</a:t>
            </a:r>
            <a:br/>
            <a:r>
              <a:t>Agent, Tools, Session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463040"/>
            <a:ext cx="2743200" cy="4846320"/>
          </a:xfrm>
          <a:prstGeom prst="rect">
            <a:avLst/>
          </a:prstGeom>
          <a:solidFill>
            <a:srgbClr val="DE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645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Segoe UI"/>
              </a:defRPr>
            </a:pPr>
            <a:r>
              <a:t>⚙️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1945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2B5C"/>
                </a:solidFill>
                <a:latin typeface="Segoe UI"/>
              </a:defRPr>
            </a:pPr>
            <a:r>
              <a:t>Process</a:t>
            </a:r>
            <a:br/>
            <a:r>
              <a:t>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1089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6060"/>
                </a:solidFill>
                <a:latin typeface="Segoe UI"/>
              </a:defRPr>
            </a:pPr>
            <a:r>
              <a:t>Automate a multi-step</a:t>
            </a:r>
            <a:br/>
            <a:r>
              <a:t>business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47548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78D4"/>
                </a:solidFill>
                <a:latin typeface="Segoe UI"/>
              </a:defRPr>
            </a:pPr>
            <a:r>
              <a:t>MAF Concepts:</a:t>
            </a:r>
            <a:br/>
            <a:r>
              <a:t>Workflows, Human-</a:t>
            </a:r>
            <a:br/>
            <a:r>
              <a:t>in-the-Loop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463040"/>
            <a:ext cx="2743200" cy="4846320"/>
          </a:xfrm>
          <a:prstGeom prst="rect">
            <a:avLst/>
          </a:prstGeom>
          <a:solidFill>
            <a:srgbClr val="DE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645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Segoe UI"/>
              </a:defRPr>
            </a:pPr>
            <a:r>
              <a:t>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1945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2B5C"/>
                </a:solidFill>
                <a:latin typeface="Segoe UI"/>
              </a:defRPr>
            </a:pPr>
            <a:r>
              <a:t>Smart Search</a:t>
            </a:r>
            <a:br/>
            <a:r>
              <a:t>&amp; 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1089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6060"/>
                </a:solidFill>
                <a:latin typeface="Segoe UI"/>
              </a:defRPr>
            </a:pPr>
            <a:r>
              <a:t>Agent that searches data</a:t>
            </a:r>
            <a:br/>
            <a:r>
              <a:t>and provides summaries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7548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78D4"/>
                </a:solidFill>
                <a:latin typeface="Segoe UI"/>
              </a:defRPr>
            </a:pPr>
            <a:r>
              <a:t>MAF Concepts:</a:t>
            </a:r>
            <a:br/>
            <a:r>
              <a:t>Tools, Context</a:t>
            </a:r>
            <a:br/>
            <a:r>
              <a:t>Providers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1463040"/>
            <a:ext cx="2743200" cy="4846320"/>
          </a:xfrm>
          <a:prstGeom prst="rect">
            <a:avLst/>
          </a:prstGeom>
          <a:solidFill>
            <a:srgbClr val="DE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645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Segoe UI"/>
              </a:defRPr>
            </a:pPr>
            <a:r>
              <a:t>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1945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2B5C"/>
                </a:solidFill>
                <a:latin typeface="Segoe UI"/>
              </a:defRPr>
            </a:pPr>
            <a:r>
              <a:t>Multi-Agent</a:t>
            </a:r>
            <a:br/>
            <a:r>
              <a:t>Collaboration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1089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6060"/>
                </a:solidFill>
                <a:latin typeface="Segoe UI"/>
              </a:defRPr>
            </a:pPr>
            <a:r>
              <a:t>Specialist agents working</a:t>
            </a:r>
            <a:br/>
            <a:r>
              <a:t>together on complex tasks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47548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78D4"/>
                </a:solidFill>
                <a:latin typeface="Segoe UI"/>
              </a:defRPr>
            </a:pPr>
            <a:r>
              <a:t>MAF Concepts:</a:t>
            </a:r>
            <a:br/>
            <a:r>
              <a:t>Agent-as-Tool,</a:t>
            </a:r>
            <a:br/>
            <a:r>
              <a:t>Workflows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Hackathon Ground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Segoe UI"/>
              </a:rPr>
              <a:t>👥  Teams of 3–5 people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Segoe UI"/>
              </a:rPr>
              <a:t>⏱️  2.5 hours of hacking time (14:00 – 16:30)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Segoe UI"/>
              </a:rPr>
              <a:t>📦  Starter code &amp; scaffolding provided (see hackathon/starter-guide.md)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Segoe UI"/>
              </a:rPr>
              <a:t>🧑‍🏫  Mentors circulating — ask for help!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Segoe UI"/>
              </a:rPr>
              <a:t>🎤  5-minute demo per team at the end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Segoe UI"/>
              </a:rPr>
              <a:t/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Segoe UI"/>
              </a:rPr>
              <a:t>Judging criteria: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Segoe UI"/>
              </a:rPr>
              <a:t>   ⭐ Creativity &amp; usefulness of the agentic experience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Segoe UI"/>
              </a:rPr>
              <a:t>   ⭐ Correct use of MAF concepts (tools, sessions, workflows)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Segoe UI"/>
              </a:rPr>
              <a:t>   ⭐ Working demo (doesn't need to be polished!)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Segoe UI"/>
              </a:rPr>
              <a:t>   ⭐ Team collaboration &amp; presentation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🎤  Show &amp; Tell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DEFB"/>
                </a:solidFill>
                <a:latin typeface="Segoe UI"/>
              </a:defRPr>
            </a:pPr>
            <a:r>
              <a:t>5 minutes per team  ·  Show your scenario  ·  Demo the agent  ·  Share one insight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What We Learned Today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2763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276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Segoe UI"/>
              </a:defRPr>
            </a:pPr>
            <a:r>
              <a:t>Agents = LLM + Instructions + Tools + Memory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514600"/>
            <a:ext cx="502920" cy="5029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8775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5877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Segoe UI"/>
              </a:defRPr>
            </a:pPr>
            <a:r>
              <a:t>Tools are the superpower — function calling is where the magic happens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474720"/>
            <a:ext cx="502920" cy="5029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54787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54787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Segoe UI"/>
              </a:defRPr>
            </a:pPr>
            <a:r>
              <a:t>Sessions make agents stateful; middleware makes them production-ready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434840"/>
            <a:ext cx="502920" cy="5029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0799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5079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Segoe UI"/>
              </a:defRPr>
            </a:pPr>
            <a:r>
              <a:t>Workflows give explicit control over multi-agent orchestration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5394960"/>
            <a:ext cx="502920" cy="5029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46811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46811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Segoe UI"/>
              </a:defRPr>
            </a:pPr>
            <a:r>
              <a:t>MAF is the unified successor to Semantic Kernel + AutoGen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Continue Your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333333"/>
                </a:solidFill>
                <a:latin typeface="Segoe UI"/>
              </a:defRPr>
            </a:pPr>
            <a:r>
              <a:t>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2B5C"/>
                </a:solidFill>
                <a:latin typeface="Segoe UI"/>
              </a:defRPr>
            </a:pPr>
            <a:r>
              <a:t>Official Docs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4630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78D4"/>
                </a:solidFill>
                <a:latin typeface="Cascadia Code"/>
              </a:defRPr>
            </a:pPr>
            <a:r>
              <a:t>learn.microsoft.com/agent-framework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333333"/>
                </a:solidFill>
                <a:latin typeface="Segoe UI"/>
              </a:defRPr>
            </a:pPr>
            <a:r>
              <a:t>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468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2B5C"/>
                </a:solidFill>
                <a:latin typeface="Segoe UI"/>
              </a:defRPr>
            </a:pPr>
            <a:r>
              <a:t>GitHub Repo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4688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78D4"/>
                </a:solidFill>
                <a:latin typeface="Cascadia Code"/>
              </a:defRPr>
            </a:pPr>
            <a:r>
              <a:t>github.com/microsoft/agent-framework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333333"/>
                </a:solidFill>
                <a:latin typeface="Segoe UI"/>
              </a:defRPr>
            </a:pPr>
            <a:r>
              <a:t>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2B5C"/>
                </a:solidFill>
                <a:latin typeface="Segoe UI"/>
              </a:defRPr>
            </a:pPr>
            <a:r>
              <a:t>Step-by-Step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4747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78D4"/>
                </a:solidFill>
                <a:latin typeface="Cascadia Code"/>
              </a:defRPr>
            </a:pPr>
            <a:r>
              <a:t>github.com/warnov/ms-agent-framework-step-by-step-workshop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333333"/>
                </a:solidFill>
                <a:latin typeface="Segoe UI"/>
              </a:defRPr>
            </a:pPr>
            <a:r>
              <a:t>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480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2B5C"/>
                </a:solidFill>
                <a:latin typeface="Segoe UI"/>
              </a:defRPr>
            </a:pPr>
            <a:r>
              <a:t>Community Labs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4805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78D4"/>
                </a:solidFill>
                <a:latin typeface="Cascadia Code"/>
              </a:defRPr>
            </a:pPr>
            <a:r>
              <a:t>agentframework.dev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86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333333"/>
                </a:solidFill>
                <a:latin typeface="Segoe UI"/>
              </a:defRPr>
            </a:pPr>
            <a:r>
              <a:t>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486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2B5C"/>
                </a:solidFill>
                <a:latin typeface="Segoe UI"/>
              </a:defRPr>
            </a:pPr>
            <a:r>
              <a:t>Migration Guides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54864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78D4"/>
                </a:solidFill>
                <a:latin typeface="Cascadia Code"/>
              </a:defRPr>
            </a:pPr>
            <a:r>
              <a:t>Semantic Kernel → MAF  |  AutoGen → MAF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DEFB"/>
                </a:solidFill>
                <a:latin typeface="Segoe UI"/>
              </a:defRPr>
            </a:pPr>
            <a:r>
              <a:t>[ Presenter Names  ·  Contact Info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BBDD"/>
                </a:solidFill>
                <a:latin typeface="Segoe UI"/>
              </a:defRPr>
            </a:pPr>
            <a:r>
              <a:t>📋  Please fill out the feedback survey!</a:t>
            </a:r>
            <a:br/>
            <a:r>
              <a:t>[ QR Code / Link Here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